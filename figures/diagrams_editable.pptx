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62450d5862429a" /><Relationship Type="http://schemas.openxmlformats.org/officeDocument/2006/relationships/extended-properties" Target="/docProps/app.xml" Id="R4b210ccacbba47de" /><Relationship Type="http://schemas.openxmlformats.org/officeDocument/2006/relationships/officeDocument" Target="/ppt/presentation.xml" Id="R926259a5247845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60ba5d749b4f08"/>
  </p:sldMasterIdLst>
  <p:notesMasterIdLst>
    <p:notesMasterId xmlns:r="http://schemas.openxmlformats.org/officeDocument/2006/relationships" r:id="R87e5be5447d04303"/>
  </p:notesMasterIdLst>
  <p:sldIdLst>
    <p:sldId xmlns:r="http://schemas.openxmlformats.org/officeDocument/2006/relationships" id="256" r:id="R9d513bf9ea6f45c2"/>
    <p:sldId xmlns:r="http://schemas.openxmlformats.org/officeDocument/2006/relationships" id="257" r:id="Rec7f4733444d4bb8"/>
    <p:sldId xmlns:r="http://schemas.openxmlformats.org/officeDocument/2006/relationships" id="258" r:id="Re42475c0e8cc40f4"/>
  </p:sldIdLst>
  <p:sldSz cx="12192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0d8ba0a31243bc" /><Relationship Type="http://schemas.openxmlformats.org/officeDocument/2006/relationships/slideMaster" Target="/ppt/slideMasters/slideMaster1.xml" Id="R2560ba5d749b4f08" /><Relationship Type="http://schemas.openxmlformats.org/officeDocument/2006/relationships/notesMaster" Target="/ppt/notesMasters/notesMaster1.xml" Id="R87e5be5447d04303" /><Relationship Type="http://schemas.openxmlformats.org/officeDocument/2006/relationships/presProps" Target="/ppt/presProps.xml" Id="Ra36b94bb6207482d" /><Relationship Type="http://schemas.openxmlformats.org/officeDocument/2006/relationships/tableStyles" Target="/ppt/tableStyles.xml" Id="Ra0896942a1ab47b8" /><Relationship Type="http://schemas.openxmlformats.org/officeDocument/2006/relationships/slide" Target="/ppt/slides/slide1.xml" Id="R9d513bf9ea6f45c2" /><Relationship Type="http://schemas.openxmlformats.org/officeDocument/2006/relationships/slide" Target="/ppt/slides/slide2.xml" Id="Rec7f4733444d4bb8" /><Relationship Type="http://schemas.openxmlformats.org/officeDocument/2006/relationships/slide" Target="/ppt/slides/slide3.xml" Id="Re42475c0e8cc40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a49abf7e7b45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58529eb864467f" /><Relationship Type="http://schemas.openxmlformats.org/officeDocument/2006/relationships/notesMaster" Target="/ppt/notesMasters/notesMaster1.xml" Id="R499a9c40ed4d41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b5b8a6e2354d1a" /><Relationship Type="http://schemas.openxmlformats.org/officeDocument/2006/relationships/notesMaster" Target="/ppt/notesMasters/notesMaster1.xml" Id="R6d0fe0c4208644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2ba9b9d5784bb5" /><Relationship Type="http://schemas.openxmlformats.org/officeDocument/2006/relationships/notesMaster" Target="/ppt/notesMasters/notesMaster1.xml" Id="R33b74f0bd1a044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source: primary external manifest; case_selection.json. Original photos 8526241 and8526294 from https://www.inaturalist.org/observations/6718263, Stosh Morency CC BY. No crop, enhancement or synthetic replacement. Photo repetition in case figure is intentional and disclosed. The diagram depicts three analyses, not a new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external_expansion_v2_2 primary_manifest.csv; explanatory_suite_v1_1 matching_attrition.csv. Before unique-frame cleaning1125 groups and3107 photos; primary1121 groups and3090 photos. Eight-observer threshold56taxa,strict10 sensitivity50taxa. Exact cardinalities611/280/122/108, retained406/62/3/3. Bars use those counts.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{"selection":"Lowest numeric observation ID within each fixed event among exactly-two-photo primary groups; first registered seed; no visual screening","model":"dinov2-deepsets-all-seed20260819","case_sources":[{"observation_id":6718263,"images":[{"photo_id":8526241,"file":"figures/v5/cases/8526241.image","sha256":"2abae4deb1070cf8f6942ec6aae71b77659626a08fb7fa6cc035c8f967baf16e","attribution":"(c) Stosh Morency, some rights reserved (CC BY)","license_code":"cc-by","source_url":"https://inaturalist-open-data.s3.amazonaws.com/photos/8526241/large.jpg","observation_url":"https://www.inaturalist.org/observations/6718263"},{"photo_id":8526294,"file":"figures/v5/cases/8526294.image","sha256":"fed0a0890ef17e738959a7582ad11214b1f1cfcac7db0e44aebbd3469b54a959","attribution":"(c) Stosh Morency, some rights reserved (CC BY)","license_code":"cc-by","source_url":"https://inaturalist-open-data.s3.amazonaws.com/photos/8526294/large.jpg","observation_url":"https://www.inaturalist.org/observations/6718263"}]},{"observation_id":13807886,"images":[{"photo_id":20368359,"file":"figures/v5/cases/20368359.image","sha256":"683a08c4d78be4b90c389fb025bb06950d971a09b0d4b5bbfd61b9f8542b8de8","attribution":"no rights reserved","license_code":"cc0","source_url":"https://inaturalist-open-data.s3.amazonaws.com/photos/20368359/large.jpeg","observation_url":"https://www.inaturalist.org/observations/13807886"},{"photo_id":20379432,"file":"figures/v5/cases/20379432.image","sha256":"d221c4b790870ce965930ea3d6f5a33a1f227aed54a16c5165a4c93451727841","attribution":"no rights reserved","license_code":"cc0","source_url":"https://inaturalist-open-data.s3.amazonaws.com/photos/20379432/large.jpeg","observation_url":"https://www.inaturalist.org/observations/13807886"}]},{"observation_id":22037163,"images":[{"photo_id":34143218,"file":"figures/v5/cases/34143218.image","sha256":"76ab35b52358475d142fd8096c70329d8a4cc4ae42683ae11d25ba840a0b2184","attribution":"no rights reserved","license_code":"cc0","source_url":"https://inaturalist-open-data.s3.amazonaws.com/photos/34143218/large.jpeg","observation_url":"https://www.inaturalist.org/observations/22037163"},{"photo_id":34143544,"file":"figures/v5/cases/34143544.image","sha256":"60235a56397f58985afd6731a534a97f2edbf16814b9e97097bae9d2d500ee80","attribution":"no rights reserved","license_code":"cc0","source_url":"https://inaturalist-open-data.s3.amazonaws.com/photos/34143544/large.jpeg","observation_url":"https://www.inaturalist.org/observations/22037163"}]}],"integrity":"Stored predictions; no new inference. Complete field of view, original pixels. Model uses frozen centre-crop preprocessing. All selected cases have identical native/pool classes. Categories are illustrative not representative."}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56a2ec5e845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5734b9e6f44872" /><Relationship Type="http://schemas.openxmlformats.org/officeDocument/2006/relationships/slideLayout" Target="/ppt/slideLayouts/slideLayout1.xml" Id="Rf7b8895284844a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b8895284844a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ea93615364715" /><Relationship Type="http://schemas.openxmlformats.org/officeDocument/2006/relationships/image" Target="/ppt/media/image.jpeg" Id="R677f8146c16c4162" /><Relationship Type="http://schemas.openxmlformats.org/officeDocument/2006/relationships/image" Target="/ppt/media/image2.jpeg" Id="R73fdb7e557e94656" /><Relationship Type="http://schemas.openxmlformats.org/officeDocument/2006/relationships/notesSlide" Target="/ppt/notesSlides/notesSlide1.xml" Id="R80b8d59c5d6945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e84b71e31466e" /><Relationship Type="http://schemas.openxmlformats.org/officeDocument/2006/relationships/notesSlide" Target="/ppt/notesSlides/notesSlide2.xml" Id="R18fb9fdc603b4b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141a597ae4dbd" /><Relationship Type="http://schemas.openxmlformats.org/officeDocument/2006/relationships/image" Target="/ppt/media/image3.jpeg" Id="R48e2fba9d7554708" /><Relationship Type="http://schemas.openxmlformats.org/officeDocument/2006/relationships/image" Target="/ppt/media/image4.jpeg" Id="R9a0ff9c7a9d04330" /><Relationship Type="http://schemas.openxmlformats.org/officeDocument/2006/relationships/image" Target="/ppt/media/image5.jpeg" Id="R4005100117ef4e03" /><Relationship Type="http://schemas.openxmlformats.org/officeDocument/2006/relationships/image" Target="/ppt/media/image6.jpeg" Id="R88009e74094449e3" /><Relationship Type="http://schemas.openxmlformats.org/officeDocument/2006/relationships/image" Target="/ppt/media/image7.jpeg" Id="Rfc01bcc9941749dd" /><Relationship Type="http://schemas.openxmlformats.org/officeDocument/2006/relationships/image" Target="/ppt/media/image8.jpeg" Id="R292054d493dc44d5" /><Relationship Type="http://schemas.openxmlformats.org/officeDocument/2006/relationships/notesSlide" Target="/ppt/notesSlides/notesSlide3.xml" Id="Ra9b47607144047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native-1">
            <a:extLst xmlns:a="http://schemas.openxmlformats.org/drawingml/2006/main">
              <a:ext uri="{FF2B5EF4-FFF2-40B4-BE49-F238E27FC236}">
                <a16:creationId xmlns:a16="http://schemas.microsoft.com/office/drawing/2014/main" id="{44217235-5605-4C43-B4E7-5669331C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Natural observation sets and three comparisons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EDEA4-43E3-413E-A985-AE16179A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858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CBCF"/>
            </a:solidFill>
          </a:ln>
        </p:spPr>
      </p:sp>
      <p:sp>
        <p:nvSpPr>
          <p:cNvPr id="3" name="native-2">
            <a:extLst xmlns:a="http://schemas.openxmlformats.org/drawingml/2006/main">
              <a:ext uri="{FF2B5EF4-FFF2-40B4-BE49-F238E27FC236}">
                <a16:creationId xmlns:a16="http://schemas.microsoft.com/office/drawing/2014/main" id="{79C1D8D8-7007-4483-B247-49123182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144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Natural observation</a:t>
            </a:r>
          </a:p>
        </p:txBody>
      </p:sp>
      <p:sp>
        <p:nvSpPr>
          <p:cNvPr id="4" name="native-3">
            <a:extLst xmlns:a="http://schemas.openxmlformats.org/drawingml/2006/main">
              <a:ext uri="{FF2B5EF4-FFF2-40B4-BE49-F238E27FC236}">
                <a16:creationId xmlns:a16="http://schemas.microsoft.com/office/drawing/2014/main" id="{DDFB5C50-85A7-47F7-A801-714AC6CA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114425"/>
            <a:ext cx="3638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Three analyses</a:t>
            </a:r>
          </a:p>
        </p:txBody>
      </p:sp>
      <p:sp>
        <p:nvSpPr>
          <p:cNvPr id="5" name="native-4">
            <a:extLst xmlns:a="http://schemas.openxmlformats.org/drawingml/2006/main">
              <a:ext uri="{FF2B5EF4-FFF2-40B4-BE49-F238E27FC236}">
                <a16:creationId xmlns:a16="http://schemas.microsoft.com/office/drawing/2014/main" id="{DC8BEE19-4E16-4DEA-8A28-A23FC6F1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1144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Measured outputs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f8146c16c4162"/>
          <a:stretch xmlns:a="http://schemas.openxmlformats.org/drawingml/2006/main"/>
        </p:blipFill>
        <p:spPr>
          <a:xfrm xmlns:a="http://schemas.openxmlformats.org/drawingml/2006/main">
            <a:off x="386878" y="1762125"/>
            <a:ext cx="3131495" cy="2076450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db7e557e94656"/>
          <a:stretch xmlns:a="http://schemas.openxmlformats.org/drawingml/2006/main"/>
        </p:blipFill>
        <p:spPr>
          <a:xfrm xmlns:a="http://schemas.openxmlformats.org/drawingml/2006/main">
            <a:off x="384568" y="4038600"/>
            <a:ext cx="3136113" cy="2076450"/>
          </a:xfrm>
          <a:prstGeom xmlns:a="http://schemas.openxmlformats.org/drawingml/2006/main" prst="rect">
            <a:avLst/>
          </a:prstGeom>
        </p:spPr>
      </p:pic>
      <p:sp>
        <p:nvSpPr>
          <p:cNvPr id="8" name="native-5">
            <a:extLst xmlns:a="http://schemas.openxmlformats.org/drawingml/2006/main">
              <a:ext uri="{FF2B5EF4-FFF2-40B4-BE49-F238E27FC236}">
                <a16:creationId xmlns:a16="http://schemas.microsoft.com/office/drawing/2014/main" id="{C838E58A-0F4C-429E-9289-AC0923DC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579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Passerina cyanea</a:t>
            </a:r>
          </a:p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One observation, two photographs</a:t>
            </a:r>
          </a:p>
        </p:txBody>
      </p:sp>
      <p:sp>
        <p:nvSpPr>
          <p:cNvPr id="9" name="native-6">
            <a:extLst xmlns:a="http://schemas.openxmlformats.org/drawingml/2006/main">
              <a:ext uri="{FF2B5EF4-FFF2-40B4-BE49-F238E27FC236}">
                <a16:creationId xmlns:a16="http://schemas.microsoft.com/office/drawing/2014/main" id="{B4CC970D-0B7F-4847-B6F7-1D0D6AA5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638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3"/>
          </a:solidFill>
          <a:ln xmlns:a="http://schemas.openxmlformats.org/drawingml/2006/main" w="12383">
            <a:solidFill>
              <a:srgbClr val="147F79"/>
            </a:solidFill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Photo budget</a:t>
            </a:r>
          </a:p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1 to 5 photographs</a:t>
            </a:r>
          </a:p>
        </p:txBody>
      </p:sp>
      <p:sp>
        <p:nvSpPr>
          <p:cNvPr id="10" name="native-7">
            <a:extLst xmlns:a="http://schemas.openxmlformats.org/drawingml/2006/main">
              <a:ext uri="{FF2B5EF4-FFF2-40B4-BE49-F238E27FC236}">
                <a16:creationId xmlns:a16="http://schemas.microsoft.com/office/drawing/2014/main" id="{1B5A9EB8-5B1C-411E-AB7F-0C4B2BF3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52625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Recognition gain</a:t>
            </a:r>
          </a:p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Harmful additions</a:t>
            </a:r>
          </a:p>
        </p:txBody>
      </p: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001000" y="25146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47F79"/>
            </a:solidFill>
            <a:tailEnd type="triangle" w="sm" len="sm"/>
          </a:ln>
        </p:spPr>
      </p:cxnSp>
      <p:sp>
        <p:nvSpPr>
          <p:cNvPr id="12" name="native-8">
            <a:extLst xmlns:a="http://schemas.openxmlformats.org/drawingml/2006/main">
              <a:ext uri="{FF2B5EF4-FFF2-40B4-BE49-F238E27FC236}">
                <a16:creationId xmlns:a16="http://schemas.microsoft.com/office/drawing/2014/main" id="{8672FEE7-22FD-4B9F-B34C-5FB0D90D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81425"/>
            <a:ext cx="3638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3"/>
          </a:solidFill>
          <a:ln xmlns:a="http://schemas.openxmlformats.org/drawingml/2006/main" w="12383">
            <a:solidFill>
              <a:srgbClr val="147F79"/>
            </a:solidFill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Same-pool regrouping</a:t>
            </a:r>
          </a:p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Coarse difficulty matching</a:t>
            </a:r>
          </a:p>
        </p:txBody>
      </p:sp>
      <p:sp>
        <p:nvSpPr>
          <p:cNvPr id="13" name="native-9">
            <a:extLst xmlns:a="http://schemas.openxmlformats.org/drawingml/2006/main">
              <a:ext uri="{FF2B5EF4-FFF2-40B4-BE49-F238E27FC236}">
                <a16:creationId xmlns:a16="http://schemas.microsoft.com/office/drawing/2014/main" id="{A590DB7E-9273-431A-9309-DC6C2E81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81425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Grouping contrast</a:t>
            </a:r>
          </a:p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Error co-occurrence</a:t>
            </a:r>
          </a:p>
        </p:txBody>
      </p:sp>
      <p:cxnSp>
        <p:nvCxnSpPr>
          <p:cNvPr id="33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001000" y="43434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47F79"/>
            </a:solidFill>
            <a:tailEnd type="triangle" w="sm" len="sm"/>
          </a:ln>
        </p:spPr>
      </p:cxnSp>
      <p:sp>
        <p:nvSpPr>
          <p:cNvPr id="15" name="native-10">
            <a:extLst xmlns:a="http://schemas.openxmlformats.org/drawingml/2006/main">
              <a:ext uri="{FF2B5EF4-FFF2-40B4-BE49-F238E27FC236}">
                <a16:creationId xmlns:a16="http://schemas.microsoft.com/office/drawing/2014/main" id="{C996362D-9F47-451B-B181-AB111985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10225"/>
            <a:ext cx="36385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3"/>
          </a:solidFill>
          <a:ln xmlns:a="http://schemas.openxmlformats.org/drawingml/2006/main" w="12383">
            <a:solidFill>
              <a:srgbClr val="147F79"/>
            </a:solidFill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Same-checkpoint comparison</a:t>
            </a:r>
          </a:p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Native set vs probability pool</a:t>
            </a:r>
          </a:p>
        </p:txBody>
      </p:sp>
      <p:sp>
        <p:nvSpPr>
          <p:cNvPr id="16" name="native-11">
            <a:extLst xmlns:a="http://schemas.openxmlformats.org/drawingml/2006/main">
              <a:ext uri="{FF2B5EF4-FFF2-40B4-BE49-F238E27FC236}">
                <a16:creationId xmlns:a16="http://schemas.microsoft.com/office/drawing/2014/main" id="{6648276A-1630-4846-AE3C-E78B340D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610225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Rescue and destruction</a:t>
            </a:r>
          </a:p>
        </p:txBody>
      </p:sp>
      <p:cxnSp>
        <p:nvCxnSpPr>
          <p:cNvPr id="36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001000" y="6172200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47F79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863DA-3FAD-4711-89EA-3490CB94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6676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CBCF"/>
            </a:solidFill>
          </a:ln>
        </p:spPr>
      </p:sp>
      <p:sp>
        <p:nvSpPr>
          <p:cNvPr id="19" name="native-12">
            <a:extLst xmlns:a="http://schemas.openxmlformats.org/drawingml/2006/main">
              <a:ext uri="{FF2B5EF4-FFF2-40B4-BE49-F238E27FC236}">
                <a16:creationId xmlns:a16="http://schemas.microsoft.com/office/drawing/2014/main" id="{B813B964-1119-49B7-A16A-4C50360C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772400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586D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>
                <a:solidFill>
                  <a:srgbClr val="586D77"/>
                </a:solidFill>
                <a:latin typeface="Times New Roman"/>
                <a:ea typeface="Times New Roman"/>
                <a:cs typeface="Times New Roman"/>
              </a:rPr>
              <a:t>Illustrative source observation. Photographs: Stosh Morency, CC BY.</a:t>
            </a:r>
          </a:p>
        </p:txBody>
      </p:sp>
    </p:spTree>
    <p:extLst>
      <p:ext uri="{BB962C8B-B14F-4D97-AF65-F5344CB8AC3E}">
        <p14:creationId xmlns:p14="http://schemas.microsoft.com/office/powerpoint/2010/main" val="12192359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native-13">
            <a:extLst xmlns:a="http://schemas.openxmlformats.org/drawingml/2006/main">
              <a:ext uri="{FF2B5EF4-FFF2-40B4-BE49-F238E27FC236}">
                <a16:creationId xmlns:a16="http://schemas.microsoft.com/office/drawing/2014/main" id="{61882A6B-5AB1-43C9-A2C2-8EFC1C82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External cohort and matching support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167E0-6E40-473E-A4D0-03329D39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858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CBCF"/>
            </a:solidFill>
          </a:ln>
        </p:spPr>
      </p:sp>
      <p:sp>
        <p:nvSpPr>
          <p:cNvPr id="3" name="native-14">
            <a:extLst xmlns:a="http://schemas.openxmlformats.org/drawingml/2006/main">
              <a:ext uri="{FF2B5EF4-FFF2-40B4-BE49-F238E27FC236}">
                <a16:creationId xmlns:a16="http://schemas.microsoft.com/office/drawing/2014/main" id="{792E1F70-6C03-4022-B54F-5ACAC9AA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62388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3"/>
          </a:solidFill>
          <a:ln xmlns:a="http://schemas.openxmlformats.org/drawingml/2006/main" w="12383">
            <a:solidFill>
              <a:srgbClr val="147F79"/>
            </a:solidFill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100 development taxa</a:t>
            </a:r>
          </a:p>
        </p:txBody>
      </p:sp>
      <p:sp>
        <p:nvSpPr>
          <p:cNvPr id="4" name="native-15">
            <a:extLst xmlns:a="http://schemas.openxmlformats.org/drawingml/2006/main">
              <a:ext uri="{FF2B5EF4-FFF2-40B4-BE49-F238E27FC236}">
                <a16:creationId xmlns:a16="http://schemas.microsoft.com/office/drawing/2014/main" id="{2F16BCCC-BE4D-4419-8781-DDFEDC92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9925"/>
            <a:ext cx="6238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3"/>
          </a:solidFill>
          <a:ln xmlns:a="http://schemas.openxmlformats.org/drawingml/2006/main" w="12383">
            <a:solidFill>
              <a:srgbClr val="147F79"/>
            </a:solidFill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External cohort</a:t>
            </a:r>
          </a:p>
          <a:p xmlns:a="http://schemas.openxmlformats.org/drawingml/2006/main">
            <a:pPr algn="l">
              <a:defRPr sz="22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56 taxa / 1,121 observations</a:t>
            </a:r>
          </a:p>
        </p:txBody>
      </p:sp>
      <p:sp>
        <p:nvSpPr>
          <p:cNvPr id="5" name="native-16">
            <a:extLst xmlns:a="http://schemas.openxmlformats.org/drawingml/2006/main">
              <a:ext uri="{FF2B5EF4-FFF2-40B4-BE49-F238E27FC236}">
                <a16:creationId xmlns:a16="http://schemas.microsoft.com/office/drawing/2014/main" id="{C72AEA48-6A8C-4BA5-A4B5-DE6838A8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81625"/>
            <a:ext cx="6238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3"/>
          </a:solidFill>
          <a:ln xmlns:a="http://schemas.openxmlformats.org/drawingml/2006/main" w="12383">
            <a:solidFill>
              <a:srgbClr val="147F79"/>
            </a:solidFill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Matched subset</a:t>
            </a:r>
          </a:p>
          <a:p xmlns:a="http://schemas.openxmlformats.org/drawingml/2006/main">
            <a:pPr algn="l">
              <a:defRPr sz="22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53 taxa / 474 observations (42.3%)</a:t>
            </a:r>
          </a:p>
        </p:txBody>
      </p:sp>
      <p:cxnSp>
        <p:nvCxnSpPr>
          <p:cNvPr id="31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3500438" y="2295525"/>
            <a:ext cx="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47F79"/>
            </a:solidFill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3500438" y="4162425"/>
            <a:ext cx="0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47F79"/>
            </a:solidFill>
            <a:tailEnd type="triangle" w="sm" len="sm"/>
          </a:ln>
        </p:spPr>
      </p:cxnSp>
      <p:sp>
        <p:nvSpPr>
          <p:cNvPr id="8" name="native-17">
            <a:extLst xmlns:a="http://schemas.openxmlformats.org/drawingml/2006/main">
              <a:ext uri="{FF2B5EF4-FFF2-40B4-BE49-F238E27FC236}">
                <a16:creationId xmlns:a16="http://schemas.microsoft.com/office/drawing/2014/main" id="{AC2F9FF6-B704-4619-B3CB-E7EC67D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rPr>
              <a:t>44 taxa below threshold</a:t>
            </a:r>
          </a:p>
        </p:txBody>
      </p:sp>
      <p:sp>
        <p:nvSpPr>
          <p:cNvPr id="9" name="native-18">
            <a:extLst xmlns:a="http://schemas.openxmlformats.org/drawingml/2006/main">
              <a:ext uri="{FF2B5EF4-FFF2-40B4-BE49-F238E27FC236}">
                <a16:creationId xmlns:a16="http://schemas.microsoft.com/office/drawing/2014/main" id="{A1D8B5D3-E56A-498A-BA0F-6D207493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24375"/>
            <a:ext cx="2809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rPr>
              <a:t>647 groups excluded</a:t>
            </a:r>
          </a:p>
        </p:txBody>
      </p:sp>
      <p:sp>
        <p:nvSpPr>
          <p:cNvPr id="10" name="native-19">
            <a:extLst xmlns:a="http://schemas.openxmlformats.org/drawingml/2006/main">
              <a:ext uri="{FF2B5EF4-FFF2-40B4-BE49-F238E27FC236}">
                <a16:creationId xmlns:a16="http://schemas.microsoft.com/office/drawing/2014/main" id="{FE4BE50D-7450-4621-8D5F-7F5F409F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3620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Matching retention</a:t>
            </a:r>
          </a:p>
        </p:txBody>
      </p:sp>
      <p:sp>
        <p:nvSpPr>
          <p:cNvPr id="11" name="native-20">
            <a:extLst xmlns:a="http://schemas.openxmlformats.org/drawingml/2006/main">
              <a:ext uri="{FF2B5EF4-FFF2-40B4-BE49-F238E27FC236}">
                <a16:creationId xmlns:a16="http://schemas.microsoft.com/office/drawing/2014/main" id="{3FFB6CDC-E834-481F-9DB9-83DED9E3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2 photos: 66.4% (406/611)</a:t>
            </a:r>
          </a:p>
        </p:txBody>
      </p:sp>
      <p:sp>
        <p:nvSpPr>
          <p:cNvPr id="12" name="native-21">
            <a:extLst xmlns:a="http://schemas.openxmlformats.org/drawingml/2006/main">
              <a:ext uri="{FF2B5EF4-FFF2-40B4-BE49-F238E27FC236}">
                <a16:creationId xmlns:a16="http://schemas.microsoft.com/office/drawing/2014/main" id="{E1486F39-FAC3-474E-9F2A-3516BDE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4048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native-22">
            <a:extLst xmlns:a="http://schemas.openxmlformats.org/drawingml/2006/main">
              <a:ext uri="{FF2B5EF4-FFF2-40B4-BE49-F238E27FC236}">
                <a16:creationId xmlns:a16="http://schemas.microsoft.com/office/drawing/2014/main" id="{837E9B32-8C06-4CF3-95F9-E6443BD6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33625"/>
            <a:ext cx="2689916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F7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native-23">
            <a:extLst xmlns:a="http://schemas.openxmlformats.org/drawingml/2006/main">
              <a:ext uri="{FF2B5EF4-FFF2-40B4-BE49-F238E27FC236}">
                <a16:creationId xmlns:a16="http://schemas.microsoft.com/office/drawing/2014/main" id="{D6B10344-305A-44C3-B1D8-3A6C7922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146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3 photos: 22.1% (62/280)</a:t>
            </a:r>
          </a:p>
        </p:txBody>
      </p:sp>
      <p:sp>
        <p:nvSpPr>
          <p:cNvPr id="15" name="native-24">
            <a:extLst xmlns:a="http://schemas.openxmlformats.org/drawingml/2006/main">
              <a:ext uri="{FF2B5EF4-FFF2-40B4-BE49-F238E27FC236}">
                <a16:creationId xmlns:a16="http://schemas.microsoft.com/office/drawing/2014/main" id="{7D475205-9A25-4C1B-8168-93058C77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95675"/>
            <a:ext cx="4048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native-25">
            <a:extLst xmlns:a="http://schemas.openxmlformats.org/drawingml/2006/main">
              <a:ext uri="{FF2B5EF4-FFF2-40B4-BE49-F238E27FC236}">
                <a16:creationId xmlns:a16="http://schemas.microsoft.com/office/drawing/2014/main" id="{05618051-E5F9-4E6A-B7A9-012EC979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95675"/>
            <a:ext cx="896371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F7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native-26">
            <a:extLst xmlns:a="http://schemas.openxmlformats.org/drawingml/2006/main">
              <a:ext uri="{FF2B5EF4-FFF2-40B4-BE49-F238E27FC236}">
                <a16:creationId xmlns:a16="http://schemas.microsoft.com/office/drawing/2014/main" id="{515D1D58-83FF-42B8-AD58-3806FA25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767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4 photos: 2.5% (3/122)</a:t>
            </a:r>
          </a:p>
        </p:txBody>
      </p:sp>
      <p:sp>
        <p:nvSpPr>
          <p:cNvPr id="18" name="native-27">
            <a:extLst xmlns:a="http://schemas.openxmlformats.org/drawingml/2006/main">
              <a:ext uri="{FF2B5EF4-FFF2-40B4-BE49-F238E27FC236}">
                <a16:creationId xmlns:a16="http://schemas.microsoft.com/office/drawing/2014/main" id="{5970B113-722D-44D5-8D33-7FEF93D0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57725"/>
            <a:ext cx="4048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native-28">
            <a:extLst xmlns:a="http://schemas.openxmlformats.org/drawingml/2006/main">
              <a:ext uri="{FF2B5EF4-FFF2-40B4-BE49-F238E27FC236}">
                <a16:creationId xmlns:a16="http://schemas.microsoft.com/office/drawing/2014/main" id="{2683B8D3-2DA3-43DA-9025-40755A54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57725"/>
            <a:ext cx="99544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F7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native-29">
            <a:extLst xmlns:a="http://schemas.openxmlformats.org/drawingml/2006/main">
              <a:ext uri="{FF2B5EF4-FFF2-40B4-BE49-F238E27FC236}">
                <a16:creationId xmlns:a16="http://schemas.microsoft.com/office/drawing/2014/main" id="{E78745B2-9DC3-4FC4-8ECA-C77A054A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4387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5 photos: 2.8% (3/108)</a:t>
            </a:r>
          </a:p>
        </p:txBody>
      </p:sp>
      <p:sp>
        <p:nvSpPr>
          <p:cNvPr id="21" name="native-30">
            <a:extLst xmlns:a="http://schemas.openxmlformats.org/drawingml/2006/main">
              <a:ext uri="{FF2B5EF4-FFF2-40B4-BE49-F238E27FC236}">
                <a16:creationId xmlns:a16="http://schemas.microsoft.com/office/drawing/2014/main" id="{8F4CF692-8336-4EF7-9D41-2816F1C7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819775"/>
            <a:ext cx="40481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native-31">
            <a:extLst xmlns:a="http://schemas.openxmlformats.org/drawingml/2006/main">
              <a:ext uri="{FF2B5EF4-FFF2-40B4-BE49-F238E27FC236}">
                <a16:creationId xmlns:a16="http://schemas.microsoft.com/office/drawing/2014/main" id="{8B429085-309E-4CCC-A1DB-59983A11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819775"/>
            <a:ext cx="11244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F7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42875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native-32">
            <a:extLst xmlns:a="http://schemas.openxmlformats.org/drawingml/2006/main">
              <a:ext uri="{FF2B5EF4-FFF2-40B4-BE49-F238E27FC236}">
                <a16:creationId xmlns:a16="http://schemas.microsoft.com/office/drawing/2014/main" id="{27EF1780-CF64-4B36-993D-5217F340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48475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Higher-budget matched support</a:t>
            </a:r>
          </a:p>
          <a:p xmlns:a="http://schemas.openxmlformats.org/drawingml/2006/main">
            <a:pPr algn="l">
              <a:defRPr sz="21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k = 3: 68 groups        k = 4: 6 groups        k = 5: 3 groups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C42211-0F16-4196-B090-87881759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762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CBCF"/>
            </a:solidFill>
          </a:ln>
        </p:spPr>
      </p:sp>
      <p:sp>
        <p:nvSpPr>
          <p:cNvPr id="25" name="native-33">
            <a:extLst xmlns:a="http://schemas.openxmlformats.org/drawingml/2006/main">
              <a:ext uri="{FF2B5EF4-FFF2-40B4-BE49-F238E27FC236}">
                <a16:creationId xmlns:a16="http://schemas.microsoft.com/office/drawing/2014/main" id="{D06AEDE5-F8A6-4EE1-AA18-5BDA9A33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77175"/>
            <a:ext cx="1133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586D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00" b="0">
                <a:solidFill>
                  <a:srgbClr val="586D77"/>
                </a:solidFill>
                <a:latin typeface="Times New Roman"/>
                <a:ea typeface="Times New Roman"/>
                <a:cs typeface="Times New Roman"/>
              </a:rPr>
              <a:t>Matching uses a subset of the external cohort.</a:t>
            </a:r>
          </a:p>
        </p:txBody>
      </p:sp>
    </p:spTree>
    <p:extLst>
      <p:ext uri="{BB962C8B-B14F-4D97-AF65-F5344CB8AC3E}">
        <p14:creationId xmlns:p14="http://schemas.microsoft.com/office/powerpoint/2010/main" val="1580703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native-34">
            <a:extLst xmlns:a="http://schemas.openxmlformats.org/drawingml/2006/main">
              <a:ext uri="{FF2B5EF4-FFF2-40B4-BE49-F238E27FC236}">
                <a16:creationId xmlns:a16="http://schemas.microsoft.com/office/drawing/2014/main" id="{2A259A0D-35EB-4AE9-A77F-E65C3CAA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1143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Real two-photo prediction events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53F07-CD3E-4092-8631-BB4331B3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858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CBCF"/>
            </a:solidFill>
          </a:ln>
        </p:spPr>
      </p:sp>
      <p:sp>
        <p:nvSpPr>
          <p:cNvPr id="3" name="native-35">
            <a:extLst xmlns:a="http://schemas.openxmlformats.org/drawingml/2006/main">
              <a:ext uri="{FF2B5EF4-FFF2-40B4-BE49-F238E27FC236}">
                <a16:creationId xmlns:a16="http://schemas.microsoft.com/office/drawing/2014/main" id="{E6A79325-ECDD-4D8F-9AEF-18D15E93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33475"/>
            <a:ext cx="1143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a  Shared error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2fba9d7554708"/>
          <a:stretch xmlns:a="http://schemas.openxmlformats.org/drawingml/2006/main"/>
        </p:blipFill>
        <p:spPr>
          <a:xfrm xmlns:a="http://schemas.openxmlformats.org/drawingml/2006/main">
            <a:off x="460090" y="1552575"/>
            <a:ext cx="2470720" cy="16383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0ff9c7a9d04330"/>
          <a:stretch xmlns:a="http://schemas.openxmlformats.org/drawingml/2006/main"/>
        </p:blipFill>
        <p:spPr>
          <a:xfrm xmlns:a="http://schemas.openxmlformats.org/drawingml/2006/main">
            <a:off x="3230043" y="1552575"/>
            <a:ext cx="2474365" cy="1638300"/>
          </a:xfrm>
          <a:prstGeom xmlns:a="http://schemas.openxmlformats.org/drawingml/2006/main" prst="rect">
            <a:avLst/>
          </a:prstGeom>
        </p:spPr>
      </p:pic>
      <p:sp>
        <p:nvSpPr>
          <p:cNvPr id="6" name="native-36">
            <a:extLst xmlns:a="http://schemas.openxmlformats.org/drawingml/2006/main">
              <a:ext uri="{FF2B5EF4-FFF2-40B4-BE49-F238E27FC236}">
                <a16:creationId xmlns:a16="http://schemas.microsoft.com/office/drawing/2014/main" id="{5DD946DD-5DFD-4005-BA4F-2854D662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14675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86D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586D77"/>
                </a:solidFill>
                <a:latin typeface="Times New Roman"/>
                <a:ea typeface="Times New Roman"/>
                <a:cs typeface="Times New Roman"/>
              </a:rPr>
              <a:t>Observation 6718263</a:t>
            </a:r>
          </a:p>
        </p:txBody>
      </p:sp>
      <p:sp>
        <p:nvSpPr>
          <p:cNvPr id="7" name="native-37">
            <a:extLst xmlns:a="http://schemas.openxmlformats.org/drawingml/2006/main">
              <a:ext uri="{FF2B5EF4-FFF2-40B4-BE49-F238E27FC236}">
                <a16:creationId xmlns:a16="http://schemas.microsoft.com/office/drawing/2014/main" id="{E2412478-38A3-4563-845D-09B11581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4573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Source label: Passerina cyanea</a:t>
            </a:r>
          </a:p>
        </p:txBody>
      </p:sp>
      <p:sp>
        <p:nvSpPr>
          <p:cNvPr id="8" name="native-38">
            <a:extLst xmlns:a="http://schemas.openxmlformats.org/drawingml/2006/main">
              <a:ext uri="{FF2B5EF4-FFF2-40B4-BE49-F238E27FC236}">
                <a16:creationId xmlns:a16="http://schemas.microsoft.com/office/drawing/2014/main" id="{9F37BCE3-22B7-4ECC-8831-B32F8CA6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8764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Photo 1</a:t>
            </a:r>
          </a:p>
        </p:txBody>
      </p:sp>
      <p:sp>
        <p:nvSpPr>
          <p:cNvPr id="9" name="native-39">
            <a:extLst xmlns:a="http://schemas.openxmlformats.org/drawingml/2006/main">
              <a:ext uri="{FF2B5EF4-FFF2-40B4-BE49-F238E27FC236}">
                <a16:creationId xmlns:a16="http://schemas.microsoft.com/office/drawing/2014/main" id="{42ED9A81-E7A9-400E-A9C1-1A1A0B82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764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rPr>
              <a:t>Passerina caerulea [wrong]</a:t>
            </a:r>
          </a:p>
        </p:txBody>
      </p:sp>
      <p:sp>
        <p:nvSpPr>
          <p:cNvPr id="10" name="native-40">
            <a:extLst xmlns:a="http://schemas.openxmlformats.org/drawingml/2006/main">
              <a:ext uri="{FF2B5EF4-FFF2-40B4-BE49-F238E27FC236}">
                <a16:creationId xmlns:a16="http://schemas.microsoft.com/office/drawing/2014/main" id="{5DA4D961-D5CA-4AFA-BE3D-D5726CF7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2098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Photo 2</a:t>
            </a:r>
          </a:p>
        </p:txBody>
      </p:sp>
      <p:sp>
        <p:nvSpPr>
          <p:cNvPr id="11" name="native-41">
            <a:extLst xmlns:a="http://schemas.openxmlformats.org/drawingml/2006/main">
              <a:ext uri="{FF2B5EF4-FFF2-40B4-BE49-F238E27FC236}">
                <a16:creationId xmlns:a16="http://schemas.microsoft.com/office/drawing/2014/main" id="{BE8A10DC-98BD-4D63-9AAD-6570BE46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rPr>
              <a:t>Passerina caerulea [wrong]</a:t>
            </a:r>
          </a:p>
        </p:txBody>
      </p:sp>
      <p:sp>
        <p:nvSpPr>
          <p:cNvPr id="12" name="native-42">
            <a:extLst xmlns:a="http://schemas.openxmlformats.org/drawingml/2006/main">
              <a:ext uri="{FF2B5EF4-FFF2-40B4-BE49-F238E27FC236}">
                <a16:creationId xmlns:a16="http://schemas.microsoft.com/office/drawing/2014/main" id="{27794FA7-2661-46A1-97F4-0D486C94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5431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Native set</a:t>
            </a:r>
          </a:p>
        </p:txBody>
      </p:sp>
      <p:sp>
        <p:nvSpPr>
          <p:cNvPr id="13" name="native-43">
            <a:extLst xmlns:a="http://schemas.openxmlformats.org/drawingml/2006/main">
              <a:ext uri="{FF2B5EF4-FFF2-40B4-BE49-F238E27FC236}">
                <a16:creationId xmlns:a16="http://schemas.microsoft.com/office/drawing/2014/main" id="{3736CAD8-89B4-493D-BA58-9540C81E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43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rPr>
              <a:t>Passerina caerulea [wrong]</a:t>
            </a:r>
          </a:p>
        </p:txBody>
      </p:sp>
      <p:sp>
        <p:nvSpPr>
          <p:cNvPr id="14" name="native-44">
            <a:extLst xmlns:a="http://schemas.openxmlformats.org/drawingml/2006/main">
              <a:ext uri="{FF2B5EF4-FFF2-40B4-BE49-F238E27FC236}">
                <a16:creationId xmlns:a16="http://schemas.microsoft.com/office/drawing/2014/main" id="{96A06463-B60D-4A03-BE72-019AE886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8765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Probability pool</a:t>
            </a:r>
          </a:p>
        </p:txBody>
      </p:sp>
      <p:sp>
        <p:nvSpPr>
          <p:cNvPr id="15" name="native-45">
            <a:extLst xmlns:a="http://schemas.openxmlformats.org/drawingml/2006/main">
              <a:ext uri="{FF2B5EF4-FFF2-40B4-BE49-F238E27FC236}">
                <a16:creationId xmlns:a16="http://schemas.microsoft.com/office/drawing/2014/main" id="{7EFCB9DB-D4E6-4513-92E0-7156D167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76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rPr>
              <a:t>Passerina caerulea [wrong]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A94D9-0E84-408F-B6FA-93AF1195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004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CBCF"/>
            </a:solidFill>
          </a:ln>
        </p:spPr>
      </p:sp>
      <p:sp>
        <p:nvSpPr>
          <p:cNvPr id="17" name="native-46">
            <a:extLst xmlns:a="http://schemas.openxmlformats.org/drawingml/2006/main">
              <a:ext uri="{FF2B5EF4-FFF2-40B4-BE49-F238E27FC236}">
                <a16:creationId xmlns:a16="http://schemas.microsoft.com/office/drawing/2014/main" id="{429E7C6E-C95C-444D-A88A-06B6C6F0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19475"/>
            <a:ext cx="1143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b  Destruction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5100117ef4e03"/>
          <a:stretch xmlns:a="http://schemas.openxmlformats.org/drawingml/2006/main"/>
        </p:blipFill>
        <p:spPr>
          <a:xfrm xmlns:a="http://schemas.openxmlformats.org/drawingml/2006/main">
            <a:off x="667052" y="3838575"/>
            <a:ext cx="2056796" cy="1638300"/>
          </a:xfrm>
          <a:prstGeom xmlns:a="http://schemas.openxmlformats.org/drawingml/2006/main" prst="rect">
            <a:avLst/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09e74094449e3"/>
          <a:stretch xmlns:a="http://schemas.openxmlformats.org/drawingml/2006/main"/>
        </p:blipFill>
        <p:spPr>
          <a:xfrm xmlns:a="http://schemas.openxmlformats.org/drawingml/2006/main">
            <a:off x="3342863" y="3838575"/>
            <a:ext cx="2248724" cy="1638300"/>
          </a:xfrm>
          <a:prstGeom xmlns:a="http://schemas.openxmlformats.org/drawingml/2006/main" prst="rect">
            <a:avLst/>
          </a:prstGeom>
        </p:spPr>
      </p:pic>
      <p:sp>
        <p:nvSpPr>
          <p:cNvPr id="20" name="native-47">
            <a:extLst xmlns:a="http://schemas.openxmlformats.org/drawingml/2006/main">
              <a:ext uri="{FF2B5EF4-FFF2-40B4-BE49-F238E27FC236}">
                <a16:creationId xmlns:a16="http://schemas.microsoft.com/office/drawing/2014/main" id="{C7766B2D-D84C-4188-B898-C5379D79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00675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86D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586D77"/>
                </a:solidFill>
                <a:latin typeface="Times New Roman"/>
                <a:ea typeface="Times New Roman"/>
                <a:cs typeface="Times New Roman"/>
              </a:rPr>
              <a:t>Observation 13807886</a:t>
            </a:r>
          </a:p>
        </p:txBody>
      </p:sp>
      <p:sp>
        <p:nvSpPr>
          <p:cNvPr id="21" name="native-48">
            <a:extLst xmlns:a="http://schemas.openxmlformats.org/drawingml/2006/main">
              <a:ext uri="{FF2B5EF4-FFF2-40B4-BE49-F238E27FC236}">
                <a16:creationId xmlns:a16="http://schemas.microsoft.com/office/drawing/2014/main" id="{EBB96EF2-76F3-42AF-8A12-2F2AB566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7433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Source label: Passerina cyanea</a:t>
            </a:r>
          </a:p>
        </p:txBody>
      </p:sp>
      <p:sp>
        <p:nvSpPr>
          <p:cNvPr id="22" name="native-49">
            <a:extLst xmlns:a="http://schemas.openxmlformats.org/drawingml/2006/main">
              <a:ext uri="{FF2B5EF4-FFF2-40B4-BE49-F238E27FC236}">
                <a16:creationId xmlns:a16="http://schemas.microsoft.com/office/drawing/2014/main" id="{66274F2F-FC90-4C67-AED6-C51D6E7F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1624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Photo 1</a:t>
            </a:r>
          </a:p>
        </p:txBody>
      </p:sp>
      <p:sp>
        <p:nvSpPr>
          <p:cNvPr id="23" name="native-50">
            <a:extLst xmlns:a="http://schemas.openxmlformats.org/drawingml/2006/main">
              <a:ext uri="{FF2B5EF4-FFF2-40B4-BE49-F238E27FC236}">
                <a16:creationId xmlns:a16="http://schemas.microsoft.com/office/drawing/2014/main" id="{88DAB412-99B3-482F-8EA6-B2015B1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624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rPr>
              <a:t>Cyanocitta cristata [wrong]</a:t>
            </a:r>
          </a:p>
        </p:txBody>
      </p:sp>
      <p:sp>
        <p:nvSpPr>
          <p:cNvPr id="24" name="native-51">
            <a:extLst xmlns:a="http://schemas.openxmlformats.org/drawingml/2006/main">
              <a:ext uri="{FF2B5EF4-FFF2-40B4-BE49-F238E27FC236}">
                <a16:creationId xmlns:a16="http://schemas.microsoft.com/office/drawing/2014/main" id="{8C55488D-4CEA-4643-9D74-CC2D9502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4958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Photo 2</a:t>
            </a:r>
          </a:p>
        </p:txBody>
      </p:sp>
      <p:sp>
        <p:nvSpPr>
          <p:cNvPr id="25" name="native-52">
            <a:extLst xmlns:a="http://schemas.openxmlformats.org/drawingml/2006/main">
              <a:ext uri="{FF2B5EF4-FFF2-40B4-BE49-F238E27FC236}">
                <a16:creationId xmlns:a16="http://schemas.microsoft.com/office/drawing/2014/main" id="{EF465B39-4C53-4741-88A9-77947EA9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95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7F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47F79"/>
                </a:solidFill>
                <a:latin typeface="Times New Roman"/>
                <a:ea typeface="Times New Roman"/>
                <a:cs typeface="Times New Roman"/>
              </a:rPr>
              <a:t>Passerina cyanea [correct]</a:t>
            </a:r>
          </a:p>
        </p:txBody>
      </p:sp>
      <p:sp>
        <p:nvSpPr>
          <p:cNvPr id="26" name="native-53">
            <a:extLst xmlns:a="http://schemas.openxmlformats.org/drawingml/2006/main">
              <a:ext uri="{FF2B5EF4-FFF2-40B4-BE49-F238E27FC236}">
                <a16:creationId xmlns:a16="http://schemas.microsoft.com/office/drawing/2014/main" id="{ECE5DC9D-DB2D-4765-9155-0BB74AA8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8291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Native set</a:t>
            </a:r>
          </a:p>
        </p:txBody>
      </p:sp>
      <p:sp>
        <p:nvSpPr>
          <p:cNvPr id="27" name="native-54">
            <a:extLst xmlns:a="http://schemas.openxmlformats.org/drawingml/2006/main">
              <a:ext uri="{FF2B5EF4-FFF2-40B4-BE49-F238E27FC236}">
                <a16:creationId xmlns:a16="http://schemas.microsoft.com/office/drawing/2014/main" id="{90221145-1838-4A08-8D7B-123DAD5F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29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rPr>
              <a:t>Cyanocitta cristata [wrong]</a:t>
            </a:r>
          </a:p>
        </p:txBody>
      </p:sp>
      <p:sp>
        <p:nvSpPr>
          <p:cNvPr id="28" name="native-55">
            <a:extLst xmlns:a="http://schemas.openxmlformats.org/drawingml/2006/main">
              <a:ext uri="{FF2B5EF4-FFF2-40B4-BE49-F238E27FC236}">
                <a16:creationId xmlns:a16="http://schemas.microsoft.com/office/drawing/2014/main" id="{04E884FD-6EC0-4752-9F4D-85668913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1625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Probability pool</a:t>
            </a:r>
          </a:p>
        </p:txBody>
      </p:sp>
      <p:sp>
        <p:nvSpPr>
          <p:cNvPr id="29" name="native-56">
            <a:extLst xmlns:a="http://schemas.openxmlformats.org/drawingml/2006/main">
              <a:ext uri="{FF2B5EF4-FFF2-40B4-BE49-F238E27FC236}">
                <a16:creationId xmlns:a16="http://schemas.microsoft.com/office/drawing/2014/main" id="{2D9597F1-5B01-4361-B7B6-14AD0258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62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rPr>
              <a:t>Cyanocitta cristata [wrong]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08BEF3-7C50-4794-8E0E-D58CBB6B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8642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CBCF"/>
            </a:solidFill>
          </a:ln>
        </p:spPr>
      </p:sp>
      <p:sp>
        <p:nvSpPr>
          <p:cNvPr id="31" name="native-57">
            <a:extLst xmlns:a="http://schemas.openxmlformats.org/drawingml/2006/main">
              <a:ext uri="{FF2B5EF4-FFF2-40B4-BE49-F238E27FC236}">
                <a16:creationId xmlns:a16="http://schemas.microsoft.com/office/drawing/2014/main" id="{05F11684-918B-441C-BB7D-3811C27F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705475"/>
            <a:ext cx="1143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c  Rescue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1bcc9941749dd"/>
          <a:stretch xmlns:a="http://schemas.openxmlformats.org/drawingml/2006/main"/>
        </p:blipFill>
        <p:spPr>
          <a:xfrm xmlns:a="http://schemas.openxmlformats.org/drawingml/2006/main">
            <a:off x="467325" y="6124575"/>
            <a:ext cx="2456251" cy="163830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054d493dc44d5"/>
          <a:stretch xmlns:a="http://schemas.openxmlformats.org/drawingml/2006/main"/>
        </p:blipFill>
        <p:spPr>
          <a:xfrm xmlns:a="http://schemas.openxmlformats.org/drawingml/2006/main">
            <a:off x="3239100" y="6124575"/>
            <a:ext cx="2456251" cy="1638300"/>
          </a:xfrm>
          <a:prstGeom xmlns:a="http://schemas.openxmlformats.org/drawingml/2006/main" prst="rect">
            <a:avLst/>
          </a:prstGeom>
        </p:spPr>
      </p:pic>
      <p:sp>
        <p:nvSpPr>
          <p:cNvPr id="34" name="native-58">
            <a:extLst xmlns:a="http://schemas.openxmlformats.org/drawingml/2006/main">
              <a:ext uri="{FF2B5EF4-FFF2-40B4-BE49-F238E27FC236}">
                <a16:creationId xmlns:a16="http://schemas.microsoft.com/office/drawing/2014/main" id="{9A5CEF2E-62E1-4383-80BD-FEAA4F16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686675"/>
            <a:ext cx="541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86D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00" b="0">
                <a:solidFill>
                  <a:srgbClr val="586D77"/>
                </a:solidFill>
                <a:latin typeface="Times New Roman"/>
                <a:ea typeface="Times New Roman"/>
                <a:cs typeface="Times New Roman"/>
              </a:rPr>
              <a:t>Observation 22037163</a:t>
            </a:r>
          </a:p>
        </p:txBody>
      </p:sp>
      <p:sp>
        <p:nvSpPr>
          <p:cNvPr id="35" name="native-59">
            <a:extLst xmlns:a="http://schemas.openxmlformats.org/drawingml/2006/main">
              <a:ext uri="{FF2B5EF4-FFF2-40B4-BE49-F238E27FC236}">
                <a16:creationId xmlns:a16="http://schemas.microsoft.com/office/drawing/2014/main" id="{77E51E78-78E8-4395-AD6D-7F80B7EE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6029325"/>
            <a:ext cx="561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Source label: Lanius ludovicianus</a:t>
            </a:r>
          </a:p>
        </p:txBody>
      </p:sp>
      <p:sp>
        <p:nvSpPr>
          <p:cNvPr id="36" name="native-60">
            <a:extLst xmlns:a="http://schemas.openxmlformats.org/drawingml/2006/main">
              <a:ext uri="{FF2B5EF4-FFF2-40B4-BE49-F238E27FC236}">
                <a16:creationId xmlns:a16="http://schemas.microsoft.com/office/drawing/2014/main" id="{9E46306E-A30F-4F46-8319-B5DC13B7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64484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Photo 1</a:t>
            </a:r>
          </a:p>
        </p:txBody>
      </p:sp>
      <p:sp>
        <p:nvSpPr>
          <p:cNvPr id="37" name="native-61">
            <a:extLst xmlns:a="http://schemas.openxmlformats.org/drawingml/2006/main">
              <a:ext uri="{FF2B5EF4-FFF2-40B4-BE49-F238E27FC236}">
                <a16:creationId xmlns:a16="http://schemas.microsoft.com/office/drawing/2014/main" id="{AC6B624A-58DB-4059-858B-2364A72B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4484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rPr>
              <a:t>Dolichonyx oryzivorus [wrong]</a:t>
            </a:r>
          </a:p>
        </p:txBody>
      </p:sp>
      <p:sp>
        <p:nvSpPr>
          <p:cNvPr id="38" name="native-62">
            <a:extLst xmlns:a="http://schemas.openxmlformats.org/drawingml/2006/main">
              <a:ext uri="{FF2B5EF4-FFF2-40B4-BE49-F238E27FC236}">
                <a16:creationId xmlns:a16="http://schemas.microsoft.com/office/drawing/2014/main" id="{414E2B3A-9F91-4AE6-B138-BD8BE709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67818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Photo 2</a:t>
            </a:r>
          </a:p>
        </p:txBody>
      </p:sp>
      <p:sp>
        <p:nvSpPr>
          <p:cNvPr id="39" name="native-63">
            <a:extLst xmlns:a="http://schemas.openxmlformats.org/drawingml/2006/main">
              <a:ext uri="{FF2B5EF4-FFF2-40B4-BE49-F238E27FC236}">
                <a16:creationId xmlns:a16="http://schemas.microsoft.com/office/drawing/2014/main" id="{3ACDD9A6-977F-485F-890B-6A330ECE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781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B8793D"/>
                </a:solidFill>
                <a:latin typeface="Times New Roman"/>
                <a:ea typeface="Times New Roman"/>
                <a:cs typeface="Times New Roman"/>
              </a:rPr>
              <a:t>Tachycineta bicolor [wrong]</a:t>
            </a:r>
          </a:p>
        </p:txBody>
      </p:sp>
      <p:sp>
        <p:nvSpPr>
          <p:cNvPr id="40" name="native-64">
            <a:extLst xmlns:a="http://schemas.openxmlformats.org/drawingml/2006/main">
              <a:ext uri="{FF2B5EF4-FFF2-40B4-BE49-F238E27FC236}">
                <a16:creationId xmlns:a16="http://schemas.microsoft.com/office/drawing/2014/main" id="{8B54447E-8BA9-4E9A-B662-92809DC8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711517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Native set</a:t>
            </a:r>
          </a:p>
        </p:txBody>
      </p:sp>
      <p:sp>
        <p:nvSpPr>
          <p:cNvPr id="41" name="native-65">
            <a:extLst xmlns:a="http://schemas.openxmlformats.org/drawingml/2006/main">
              <a:ext uri="{FF2B5EF4-FFF2-40B4-BE49-F238E27FC236}">
                <a16:creationId xmlns:a16="http://schemas.microsoft.com/office/drawing/2014/main" id="{280E3C36-5D3D-4419-AA2C-BC9A381F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1151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7F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47F79"/>
                </a:solidFill>
                <a:latin typeface="Times New Roman"/>
                <a:ea typeface="Times New Roman"/>
                <a:cs typeface="Times New Roman"/>
              </a:rPr>
              <a:t>Lanius ludovicianus [correct]</a:t>
            </a:r>
          </a:p>
        </p:txBody>
      </p:sp>
      <p:sp>
        <p:nvSpPr>
          <p:cNvPr id="42" name="native-66">
            <a:extLst xmlns:a="http://schemas.openxmlformats.org/drawingml/2006/main">
              <a:ext uri="{FF2B5EF4-FFF2-40B4-BE49-F238E27FC236}">
                <a16:creationId xmlns:a16="http://schemas.microsoft.com/office/drawing/2014/main" id="{D8BEBB16-CE41-4DCD-8839-5EB45A3B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74485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33D4A"/>
                </a:solidFill>
                <a:latin typeface="Times New Roman"/>
                <a:ea typeface="Times New Roman"/>
                <a:cs typeface="Times New Roman"/>
              </a:rPr>
              <a:t>Probability pool</a:t>
            </a:r>
          </a:p>
        </p:txBody>
      </p:sp>
      <p:sp>
        <p:nvSpPr>
          <p:cNvPr id="43" name="native-67">
            <a:extLst xmlns:a="http://schemas.openxmlformats.org/drawingml/2006/main">
              <a:ext uri="{FF2B5EF4-FFF2-40B4-BE49-F238E27FC236}">
                <a16:creationId xmlns:a16="http://schemas.microsoft.com/office/drawing/2014/main" id="{AE9C3AB3-9B6B-4FA1-B09E-3B8FE287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4485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47F7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47F79"/>
                </a:solidFill>
                <a:latin typeface="Times New Roman"/>
                <a:ea typeface="Times New Roman"/>
                <a:cs typeface="Times New Roman"/>
              </a:rPr>
              <a:t>Lanius ludovicianus [correct]</a:t>
            </a:r>
          </a:p>
        </p:txBody>
      </p:sp>
      <p:sp>
        <p:nvSpPr>
          <p:cNvPr id="44" name="native-68">
            <a:extLst xmlns:a="http://schemas.openxmlformats.org/drawingml/2006/main">
              <a:ext uri="{FF2B5EF4-FFF2-40B4-BE49-F238E27FC236}">
                <a16:creationId xmlns:a16="http://schemas.microsoft.com/office/drawing/2014/main" id="{41A8324C-2DA2-4A09-BED2-FFF248C8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105775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D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86D77"/>
                </a:solidFill>
                <a:latin typeface="Times New Roman"/>
                <a:ea typeface="Times New Roman"/>
                <a:cs typeface="Times New Roman"/>
              </a:rPr>
              <a:t>Illustrative cases. (a) Stosh Morency, CC BY. (b,c) CC0.</a:t>
            </a:r>
          </a:p>
        </p:txBody>
      </p:sp>
    </p:spTree>
    <p:extLst>
      <p:ext uri="{BB962C8B-B14F-4D97-AF65-F5344CB8AC3E}">
        <p14:creationId xmlns:p14="http://schemas.microsoft.com/office/powerpoint/2010/main" val="997516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2026-09-21T16:46:08.3160000Z</dcterms:created>
  <dcterms:modified xsi:type="dcterms:W3CDTF">2026-09-21T16:46:08.3160000Z</dcterms:modified>
</coreProperties>
</file>